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93776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DRIFTGUARD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640080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400" b="1">
                <a:solidFill>
                  <a:srgbClr val="111114"/>
                </a:solidFill>
                <a:latin typeface="DM Sans"/>
              </a:rPr>
              <a:t>Agent Drift
Judge &amp; Agent
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675887"/>
            <a:ext cx="6035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F727A"/>
                </a:solidFill>
                <a:latin typeface="DM Sans"/>
              </a:rPr>
              <a:t>시스템 가드레일 방식과 AI 평가 에이전트 방식 비교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69480" y="1005840"/>
            <a:ext cx="1783080" cy="1664208"/>
          </a:xfrm>
          <a:prstGeom prst="roundRect">
            <a:avLst>
              <a:gd name="adj" fmla="val 12000"/>
            </a:avLst>
          </a:prstGeom>
          <a:solidFill>
            <a:srgbClr val="FF5A3D"/>
          </a:solidFill>
          <a:ln w="10160">
            <a:solidFill>
              <a:srgbClr val="FF5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70648" y="1335024"/>
            <a:ext cx="1325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DM Sans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70648" y="179222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DM Sans"/>
              </a:rPr>
              <a:t>Guardrail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005840"/>
            <a:ext cx="1783080" cy="1664208"/>
          </a:xfrm>
          <a:prstGeom prst="roundRect">
            <a:avLst>
              <a:gd name="adj" fmla="val 12000"/>
            </a:avLst>
          </a:prstGeom>
          <a:solidFill>
            <a:srgbClr val="D92D8A"/>
          </a:solidFill>
          <a:ln w="10160">
            <a:solidFill>
              <a:srgbClr val="D9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8048" y="1335024"/>
            <a:ext cx="1325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DM Sans"/>
              </a:rP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8048" y="179222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DM Sans"/>
              </a:rPr>
              <a:t>Reviewer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2971800"/>
            <a:ext cx="1783080" cy="1664208"/>
          </a:xfrm>
          <a:prstGeom prst="roundRect">
            <a:avLst>
              <a:gd name="adj" fmla="val 12000"/>
            </a:avLst>
          </a:prstGeom>
          <a:solidFill>
            <a:srgbClr val="2563FF"/>
          </a:solidFill>
          <a:ln w="10160">
            <a:solidFill>
              <a:srgbClr val="25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0648" y="3300984"/>
            <a:ext cx="1325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DM Sans"/>
              </a:rPr>
              <a:t>Drift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375818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DM Sans"/>
              </a:rPr>
              <a:t>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971800"/>
            <a:ext cx="1783080" cy="1664208"/>
          </a:xfrm>
          <a:prstGeom prst="roundRect">
            <a:avLst>
              <a:gd name="adj" fmla="val 12000"/>
            </a:avLst>
          </a:prstGeom>
          <a:solidFill>
            <a:srgbClr val="6D4DFF"/>
          </a:solidFill>
          <a:ln w="10160">
            <a:solidFill>
              <a:srgbClr val="6D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8048" y="3300984"/>
            <a:ext cx="1325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DM Sans"/>
              </a:rPr>
              <a:t>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8048" y="375818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DM Sans"/>
              </a:rPr>
              <a:t>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245352"/>
            <a:ext cx="8595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9A9A9A"/>
                </a:solidFill>
                <a:latin typeface="DM Sans"/>
              </a:rPr>
              <a:t>MiniMax-inspired deck style · DM Sans · pill CTAs · vibrant product cards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4"/>
                </a:solidFill>
                <a:latin typeface="DM Sans"/>
              </a:rPr>
              <a:t>Agent Drift란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8686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F727A"/>
                </a:solidFill>
                <a:latin typeface="DM Sans"/>
              </a:rPr>
              <a:t>초기 사용자 목표·역할·제약·정책·맥락에서 점진적으로 벗어나는 현상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2926080" cy="2971800"/>
          </a:xfrm>
          <a:prstGeom prst="roundRect">
            <a:avLst>
              <a:gd name="adj" fmla="val 12000"/>
            </a:avLst>
          </a:prstGeom>
          <a:solidFill>
            <a:srgbClr val="F7F7F5"/>
          </a:solidFill>
          <a:ln w="10160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0428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11114"/>
                </a:solidFill>
                <a:latin typeface="DM Sans"/>
              </a:rPr>
              <a:t>핵심 위험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240280" cy="1783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장기 작업에서 작은 오해가 누적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도구 호출로 외부 상태 변경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메모리 저장으로 오류가 지속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다중 에이전트 handoff에서 목표 변형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743200"/>
            <a:ext cx="105156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2871216"/>
            <a:ext cx="83210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11114"/>
                </a:solidFill>
                <a:latin typeface="DM Sans"/>
              </a:rPr>
              <a:t>Original
Goal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2743200"/>
            <a:ext cx="1051560" cy="731520"/>
          </a:xfrm>
          <a:prstGeom prst="roundRect">
            <a:avLst>
              <a:gd name="adj" fmla="val 12000"/>
            </a:avLst>
          </a:prstGeom>
          <a:solidFill>
            <a:srgbClr val="F7F7F5"/>
          </a:solidFill>
          <a:ln w="10160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6168" y="2871216"/>
            <a:ext cx="83210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11114"/>
                </a:solidFill>
                <a:latin typeface="DM Sans"/>
              </a:rPr>
              <a:t>Plan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2743200"/>
            <a:ext cx="1051560" cy="73152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10160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2871216"/>
            <a:ext cx="83210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11114"/>
                </a:solidFill>
                <a:latin typeface="DM Sans"/>
              </a:rPr>
              <a:t>Tool /
Memory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2743200"/>
            <a:ext cx="1051560" cy="731520"/>
          </a:xfrm>
          <a:prstGeom prst="roundRect">
            <a:avLst>
              <a:gd name="adj" fmla="val 12000"/>
            </a:avLst>
          </a:prstGeom>
          <a:solidFill>
            <a:srgbClr val="FF5A3D"/>
          </a:solidFill>
          <a:ln w="10160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42248" y="2871216"/>
            <a:ext cx="83210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DM Sans"/>
              </a:rPr>
              <a:t>Drifted
Outcome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94960" y="3108960"/>
            <a:ext cx="411480" cy="0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3108960"/>
            <a:ext cx="411480" cy="0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321040" y="3108960"/>
            <a:ext cx="411480" cy="0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669280" y="3867912"/>
            <a:ext cx="1554480" cy="320040"/>
          </a:xfrm>
          <a:prstGeom prst="roundRect">
            <a:avLst>
              <a:gd name="adj" fmla="val 50000"/>
            </a:avLst>
          </a:prstGeom>
          <a:solidFill>
            <a:srgbClr val="D92D8A"/>
          </a:solidFill>
          <a:ln w="9525">
            <a:solidFill>
              <a:srgbClr val="D9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scope expansion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3867912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6D4DFF"/>
          </a:solidFill>
          <a:ln w="9525">
            <a:solidFill>
              <a:srgbClr val="6D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unsafe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754880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예: README만 수정 요청 → architecture.md까지 변경 · 삭제 금지 → rm -rf 실행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Taxonomy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4"/>
                </a:solidFill>
                <a:latin typeface="DM Sans"/>
              </a:rPr>
              <a:t>Drift 유형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8686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F727A"/>
                </a:solidFill>
                <a:latin typeface="DM Sans"/>
              </a:rPr>
              <a:t>Drift는 단일 응답 문제가 아니라 실행 과정 전체에서 발생한다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03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965960"/>
          <a:ext cx="10607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886200"/>
                <a:gridCol w="4892040"/>
              </a:tblGrid>
              <a:tr h="49638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유형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예시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원래 목표에서 벗어남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요청 범위 외 파일 수정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Instruction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명시 지시 누락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삭제 금지 무시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위험/불필요 도구 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승인 없이 배포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부적절한 기억 저장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일시적 선호를 영구 저장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Multi-Agent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전달 과정 목표 변형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Planner 지시가 원본과 달라짐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승인/민감정보/외부 영향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토큰 로그 저장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79729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F5A3D"/>
          </a:solidFill>
          <a:ln w="9525">
            <a:solidFill>
              <a:srgbClr val="FF5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Goal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19" y="579729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2563FF"/>
          </a:solidFill>
          <a:ln w="9525">
            <a:solidFill>
              <a:srgbClr val="25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Tool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5797296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6D4DFF"/>
          </a:solidFill>
          <a:ln w="9525">
            <a:solidFill>
              <a:srgbClr val="6D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Memory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579729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Safety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4"/>
                </a:solidFill>
                <a:latin typeface="DM Sans"/>
              </a:rPr>
              <a:t>접근 방식 1: 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8686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F727A"/>
                </a:solidFill>
                <a:latin typeface="DM Sans"/>
              </a:rPr>
              <a:t>Agent Runtime에 Judge Layer, Policy Engine, Tool Guard, Memory Guard를 삽입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143000" cy="685800"/>
          </a:xfrm>
          <a:prstGeom prst="roundRect">
            <a:avLst>
              <a:gd name="adj" fmla="val 12000"/>
            </a:avLst>
          </a:prstGeom>
          <a:solidFill>
            <a:srgbClr val="F7F7F5"/>
          </a:solidFill>
          <a:ln w="10160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962656"/>
            <a:ext cx="92354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11114"/>
                </a:solidFill>
                <a:latin typeface="DM Sans"/>
              </a:rPr>
              <a:t>User
Request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423160"/>
            <a:ext cx="1463040" cy="1508760"/>
          </a:xfrm>
          <a:prstGeom prst="roundRect">
            <a:avLst>
              <a:gd name="adj" fmla="val 12000"/>
            </a:avLst>
          </a:prstGeom>
          <a:solidFill>
            <a:srgbClr val="0B0B0D"/>
          </a:solidFill>
          <a:ln w="1016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551176"/>
            <a:ext cx="1243584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DM Sans"/>
              </a:rPr>
              <a:t>Agent
Runtime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691640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563FF"/>
          </a:solidFill>
          <a:ln w="10160">
            <a:solidFill>
              <a:srgbClr val="25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1819656"/>
            <a:ext cx="110642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DM Sans"/>
              </a:rPr>
              <a:t>Judge
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743200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FF5A3D"/>
          </a:solidFill>
          <a:ln w="10160">
            <a:solidFill>
              <a:srgbClr val="FF5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2871216"/>
            <a:ext cx="110642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DM Sans"/>
              </a:rPr>
              <a:t>Policy
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3794760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D92D8A"/>
          </a:solidFill>
          <a:ln w="10160">
            <a:solidFill>
              <a:srgbClr val="D9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3922776"/>
            <a:ext cx="110642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DM Sans"/>
              </a:rPr>
              <a:t>Tool
Guard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794760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6D4DFF"/>
          </a:solidFill>
          <a:ln w="10160">
            <a:solidFill>
              <a:srgbClr val="6D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3922776"/>
            <a:ext cx="110642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DM Sans"/>
              </a:rPr>
              <a:t>Memory
Guard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828800"/>
            <a:ext cx="1188720" cy="502920"/>
          </a:xfrm>
          <a:prstGeom prst="roundRect">
            <a:avLst>
              <a:gd name="adj" fmla="val 12000"/>
            </a:avLst>
          </a:prstGeom>
          <a:solidFill>
            <a:srgbClr val="E9F8EE"/>
          </a:solidFill>
          <a:ln w="10160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7" y="1956816"/>
            <a:ext cx="9692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37A3D"/>
                </a:solidFill>
                <a:latin typeface="DM Sans"/>
              </a:rPr>
              <a:t>Continue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2788920"/>
            <a:ext cx="1188720" cy="50292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10160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7" y="2916936"/>
            <a:ext cx="9692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848D6"/>
                </a:solidFill>
                <a:latin typeface="DM Sans"/>
              </a:rPr>
              <a:t>Ask User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3749039"/>
            <a:ext cx="1188720" cy="658368"/>
          </a:xfrm>
          <a:prstGeom prst="roundRect">
            <a:avLst>
              <a:gd name="adj" fmla="val 12000"/>
            </a:avLst>
          </a:prstGeom>
          <a:solidFill>
            <a:srgbClr val="0B0B0D"/>
          </a:solidFill>
          <a:ln w="1016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7" y="3877055"/>
            <a:ext cx="96926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DM Sans"/>
              </a:rPr>
              <a:t>Stop &amp;
Audit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874519" y="3182112"/>
            <a:ext cx="502921" cy="0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840480" y="3090672"/>
            <a:ext cx="685800" cy="91440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852160" y="3035808"/>
            <a:ext cx="2331719" cy="54864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852160" y="4114800"/>
            <a:ext cx="502920" cy="0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680960" y="4096512"/>
            <a:ext cx="502919" cy="18288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784080" y="1691640"/>
            <a:ext cx="1417320" cy="2743200"/>
          </a:xfrm>
          <a:prstGeom prst="roundRect">
            <a:avLst>
              <a:gd name="adj" fmla="val 12000"/>
            </a:avLst>
          </a:prstGeom>
          <a:solidFill>
            <a:srgbClr val="F7F7F5"/>
          </a:solidFill>
          <a:ln w="10160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12680" y="1938528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11114"/>
                </a:solidFill>
                <a:latin typeface="DM Sans"/>
              </a:rPr>
              <a:t>강점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2377440"/>
            <a:ext cx="96012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자동 보호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운영 통합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실시간 차단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56616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11114"/>
                </a:solidFill>
                <a:latin typeface="DM Sans"/>
              </a:rPr>
              <a:t>제약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3977639"/>
            <a:ext cx="96012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통합 비용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런타임 의존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4"/>
                </a:solidFill>
                <a:latin typeface="DM Sans"/>
              </a:rPr>
              <a:t>시스템 아키텍처 컴포넌트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05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664208"/>
          <a:ext cx="105156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7680960"/>
              </a:tblGrid>
              <a:tr h="56823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컴포넌트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Agent Runtime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계획, 실행, 도구 호출, 최종 응답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Judge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목표/역할/지시/도구/메모리 평가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Policy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점수와 정책 기반으로 다음 행동 결정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Tool 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고위험 도구 호출 전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Memory 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장기 메모리 저장 전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Evaluation 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감사와 운영 지표 기록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925312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9A9A9A"/>
                </a:solidFill>
                <a:latin typeface="DM Sans"/>
              </a:rPr>
              <a:t>flat-with-borders documentation surface · compact rows · 16px white cards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4"/>
                </a:solidFill>
                <a:latin typeface="DM Sans"/>
              </a:rPr>
              <a:t>시스템 방식 실행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8686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F727A"/>
                </a:solidFill>
                <a:latin typeface="DM Sans"/>
              </a:rPr>
              <a:t>최종 응답에서만 평가하면 늦다 — 계획, 도구 호출, 메모리 업데이트 시점에 체크한다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1051560" cy="713232"/>
          </a:xfrm>
          <a:prstGeom prst="roundRect">
            <a:avLst>
              <a:gd name="adj" fmla="val 12000"/>
            </a:avLst>
          </a:prstGeom>
          <a:solidFill>
            <a:srgbClr val="F7F7F5"/>
          </a:solidFill>
          <a:ln w="10160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871216"/>
            <a:ext cx="832103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111114"/>
                </a:solidFill>
                <a:latin typeface="DM Sans"/>
              </a:rPr>
              <a:t>User
Request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91639" y="3099816"/>
            <a:ext cx="365761" cy="0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57400" y="2743200"/>
            <a:ext cx="1051560" cy="713232"/>
          </a:xfrm>
          <a:prstGeom prst="roundRect">
            <a:avLst>
              <a:gd name="adj" fmla="val 12000"/>
            </a:avLst>
          </a:prstGeom>
          <a:solidFill>
            <a:srgbClr val="F7F7F5"/>
          </a:solidFill>
          <a:ln w="10160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7128" y="2871216"/>
            <a:ext cx="832103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111114"/>
                </a:solidFill>
                <a:latin typeface="DM Sans"/>
              </a:rPr>
              <a:t>Agent
Planning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3099816"/>
            <a:ext cx="365760" cy="0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74720" y="2743200"/>
            <a:ext cx="1051560" cy="713232"/>
          </a:xfrm>
          <a:prstGeom prst="roundRect">
            <a:avLst>
              <a:gd name="adj" fmla="val 12000"/>
            </a:avLst>
          </a:prstGeom>
          <a:solidFill>
            <a:srgbClr val="0B0B0D"/>
          </a:solidFill>
          <a:ln w="1016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2871216"/>
            <a:ext cx="832103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DM Sans"/>
              </a:rPr>
              <a:t>Judge
Evaluation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26279" y="3099816"/>
            <a:ext cx="365761" cy="0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892040" y="2743200"/>
            <a:ext cx="1051560" cy="713232"/>
          </a:xfrm>
          <a:prstGeom prst="roundRect">
            <a:avLst>
              <a:gd name="adj" fmla="val 12000"/>
            </a:avLst>
          </a:prstGeom>
          <a:solidFill>
            <a:srgbClr val="0B0B0D"/>
          </a:solidFill>
          <a:ln w="1016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1768" y="2871216"/>
            <a:ext cx="832103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DM Sans"/>
              </a:rPr>
              <a:t>Policy
Decision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0" y="3099816"/>
            <a:ext cx="365760" cy="0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2743200"/>
            <a:ext cx="1051560" cy="713232"/>
          </a:xfrm>
          <a:prstGeom prst="roundRect">
            <a:avLst>
              <a:gd name="adj" fmla="val 12000"/>
            </a:avLst>
          </a:prstGeom>
          <a:solidFill>
            <a:srgbClr val="F7F7F5"/>
          </a:solidFill>
          <a:ln w="10160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871216"/>
            <a:ext cx="832103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111114"/>
                </a:solidFill>
                <a:latin typeface="DM Sans"/>
              </a:rPr>
              <a:t>Agent
Execution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60920" y="3099816"/>
            <a:ext cx="365760" cy="0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726679" y="2743200"/>
            <a:ext cx="1051560" cy="713232"/>
          </a:xfrm>
          <a:prstGeom prst="roundRect">
            <a:avLst>
              <a:gd name="adj" fmla="val 12000"/>
            </a:avLst>
          </a:prstGeom>
          <a:solidFill>
            <a:srgbClr val="F7F7F5"/>
          </a:solidFill>
          <a:ln w="10160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36407" y="2871216"/>
            <a:ext cx="832103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111114"/>
                </a:solidFill>
                <a:latin typeface="DM Sans"/>
              </a:rPr>
              <a:t>Tool / Memory
Guard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78240" y="3099816"/>
            <a:ext cx="365760" cy="0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44000" y="2743200"/>
            <a:ext cx="1051560" cy="713232"/>
          </a:xfrm>
          <a:prstGeom prst="roundRect">
            <a:avLst>
              <a:gd name="adj" fmla="val 12000"/>
            </a:avLst>
          </a:prstGeom>
          <a:solidFill>
            <a:srgbClr val="0B0B0D"/>
          </a:solidFill>
          <a:ln w="1016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3728" y="2871216"/>
            <a:ext cx="832103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DM Sans"/>
              </a:rPr>
              <a:t>Final
Evaluation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195560" y="3099816"/>
            <a:ext cx="365760" cy="0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561319" y="2743200"/>
            <a:ext cx="1051560" cy="713232"/>
          </a:xfrm>
          <a:prstGeom prst="roundRect">
            <a:avLst>
              <a:gd name="adj" fmla="val 12000"/>
            </a:avLst>
          </a:prstGeom>
          <a:solidFill>
            <a:srgbClr val="FF5A3D"/>
          </a:solidFill>
          <a:ln w="10160">
            <a:solidFill>
              <a:srgbClr val="FF5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71047" y="2871216"/>
            <a:ext cx="832103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DM Sans"/>
              </a:rPr>
              <a:t>Continue /
Ask / Stop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3977639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848D6"/>
                </a:solidFill>
                <a:latin typeface="DM Sans"/>
              </a:rPr>
              <a:t>checkpoint-based evaluation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4"/>
                </a:solidFill>
                <a:latin typeface="DM Sans"/>
              </a:rPr>
              <a:t>접근 방식 2: 에이전트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8686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F727A"/>
                </a:solidFill>
                <a:latin typeface="DM Sans"/>
              </a:rPr>
              <a:t>DriftGuard를 독립적인 평가 에이전트로 실행하고, 설명과 수정 가이드를 제공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34640"/>
            <a:ext cx="1234440" cy="685800"/>
          </a:xfrm>
          <a:prstGeom prst="roundRect">
            <a:avLst>
              <a:gd name="adj" fmla="val 12000"/>
            </a:avLst>
          </a:prstGeom>
          <a:solidFill>
            <a:srgbClr val="F7F7F5"/>
          </a:solidFill>
          <a:ln w="10160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962656"/>
            <a:ext cx="101498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11114"/>
                </a:solidFill>
                <a:latin typeface="DM Sans"/>
              </a:rPr>
              <a:t>Review
Request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2834640"/>
            <a:ext cx="1325880" cy="68580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10160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32888" y="2962656"/>
            <a:ext cx="11064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848D6"/>
                </a:solidFill>
                <a:latin typeface="DM Sans"/>
              </a:rPr>
              <a:t>Input
Normalizer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2011680"/>
            <a:ext cx="1417320" cy="685800"/>
          </a:xfrm>
          <a:prstGeom prst="roundRect">
            <a:avLst>
              <a:gd name="adj" fmla="val 12000"/>
            </a:avLst>
          </a:prstGeom>
          <a:solidFill>
            <a:srgbClr val="F7F7F5"/>
          </a:solidFill>
          <a:ln w="10160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0248" y="2139696"/>
            <a:ext cx="119786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11114"/>
                </a:solidFill>
                <a:latin typeface="DM Sans"/>
              </a:rPr>
              <a:t>Rule-based
Evaluator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3246120"/>
            <a:ext cx="1417320" cy="777240"/>
          </a:xfrm>
          <a:prstGeom prst="roundRect">
            <a:avLst>
              <a:gd name="adj" fmla="val 12000"/>
            </a:avLst>
          </a:prstGeom>
          <a:solidFill>
            <a:srgbClr val="0B0B0D"/>
          </a:solidFill>
          <a:ln w="1016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0248" y="3374136"/>
            <a:ext cx="1197864" cy="594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DM Sans"/>
              </a:rPr>
              <a:t>DriftGuard
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2057400"/>
            <a:ext cx="1417320" cy="685800"/>
          </a:xfrm>
          <a:prstGeom prst="roundRect">
            <a:avLst>
              <a:gd name="adj" fmla="val 12000"/>
            </a:avLst>
          </a:prstGeom>
          <a:solidFill>
            <a:srgbClr val="FF5A3D"/>
          </a:solidFill>
          <a:ln w="10160">
            <a:solidFill>
              <a:srgbClr val="FF5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185416"/>
            <a:ext cx="119786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DM Sans"/>
              </a:rPr>
              <a:t>Drift Type
Classifier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337560"/>
            <a:ext cx="1417320" cy="685800"/>
          </a:xfrm>
          <a:prstGeom prst="roundRect">
            <a:avLst>
              <a:gd name="adj" fmla="val 12000"/>
            </a:avLst>
          </a:prstGeom>
          <a:solidFill>
            <a:srgbClr val="D92D8A"/>
          </a:solidFill>
          <a:ln w="10160">
            <a:solidFill>
              <a:srgbClr val="D9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3465576"/>
            <a:ext cx="119786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DM Sans"/>
              </a:rPr>
              <a:t>Guidance
Generator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920240"/>
            <a:ext cx="123444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2048256"/>
            <a:ext cx="101498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11114"/>
                </a:solidFill>
                <a:latin typeface="DM Sans"/>
              </a:rPr>
              <a:t>Markdown
Report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834640"/>
            <a:ext cx="123444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7" y="2962656"/>
            <a:ext cx="101498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11114"/>
                </a:solidFill>
                <a:latin typeface="DM Sans"/>
              </a:rPr>
              <a:t>Structured
JSON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749039"/>
            <a:ext cx="123444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3877055"/>
            <a:ext cx="101498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11114"/>
                </a:solidFill>
                <a:latin typeface="DM Sans"/>
              </a:rPr>
              <a:t>JSONL
Audit Log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011680" y="3182112"/>
            <a:ext cx="411480" cy="0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749039" y="3182112"/>
            <a:ext cx="411481" cy="384048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749039" y="2359152"/>
            <a:ext cx="411481" cy="822960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577840" y="3566160"/>
            <a:ext cx="502920" cy="109727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577840" y="2395728"/>
            <a:ext cx="502920" cy="1170432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498079" y="2249424"/>
            <a:ext cx="731521" cy="146304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498079" y="3163824"/>
            <a:ext cx="731521" cy="448056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498079" y="3611880"/>
            <a:ext cx="731521" cy="466344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921240" y="1828800"/>
            <a:ext cx="1234440" cy="2560320"/>
          </a:xfrm>
          <a:prstGeom prst="roundRect">
            <a:avLst>
              <a:gd name="adj" fmla="val 12000"/>
            </a:avLst>
          </a:prstGeom>
          <a:solidFill>
            <a:srgbClr val="F7F7F5"/>
          </a:solidFill>
          <a:ln w="10160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9840" y="2057400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4"/>
                </a:solidFill>
                <a:latin typeface="DM Sans"/>
              </a:rPr>
              <a:t>핵심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2514600"/>
            <a:ext cx="82296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리뷰어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코치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감사자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4"/>
                </a:solidFill>
                <a:latin typeface="DM Sans"/>
              </a:rPr>
              <a:t>에이전트 아키텍처 컴포넌트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08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664208"/>
          <a:ext cx="105156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7680960"/>
              </a:tblGrid>
              <a:tr h="56823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컴포넌트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Agent Review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평가 입력 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Input Normalizer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로그/응답/도구 호출을 공통 형식으로 정리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Rule-based Evaluator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빠른 위험 신호 계산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DriftGuard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Drift 진단, 근거, 수정 가이드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Guidance Generator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실행 가능한 수정 방향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Output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Markdown, JSON, JSONL 로그 출력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925312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9A9A9A"/>
                </a:solidFill>
                <a:latin typeface="DM Sans"/>
              </a:rPr>
              <a:t>flat-with-borders documentation surface · compact rows · 16px white cards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4"/>
                </a:solidFill>
                <a:latin typeface="DM Sans"/>
              </a:rPr>
              <a:t>에이전트 방식 실행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8686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F727A"/>
                </a:solidFill>
                <a:latin typeface="DM Sans"/>
              </a:rPr>
              <a:t>실행 로그를 review-agent 입력으로 넣으면 Drift 유형·점수·권고가 나온다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074920" cy="3611880"/>
          </a:xfrm>
          <a:prstGeom prst="roundRect">
            <a:avLst>
              <a:gd name="adj" fmla="val 12000"/>
            </a:avLst>
          </a:prstGeom>
          <a:solidFill>
            <a:srgbClr val="0B0B0D"/>
          </a:solidFill>
          <a:ln w="1016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DM Sans"/>
              </a:rPr>
              <a:t>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95728"/>
            <a:ext cx="4389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DM Sans"/>
              </a:rPr>
              <a:t>PYTHONPATH=src python3 -m driftguard.cli review-agent \
  --input examples/agent-review-execution-log.json \
  --log logs/agent-reviews.jsonl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52044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DM Sans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50208"/>
            <a:ext cx="4389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DM Sans"/>
              </a:rPr>
              <a:t>{"execution_log": ["Ran command: rm -rf docs/old"]}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691640"/>
            <a:ext cx="4526280" cy="3611880"/>
          </a:xfrm>
          <a:prstGeom prst="roundRect">
            <a:avLst>
              <a:gd name="adj" fmla="val 12000"/>
            </a:avLst>
          </a:prstGeom>
          <a:solidFill>
            <a:srgbClr val="F7F7F5"/>
          </a:solidFill>
          <a:ln w="10160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96596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4"/>
                </a:solidFill>
                <a:latin typeface="DM Sans"/>
              </a:rPr>
              <a:t>Output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720840" y="2395728"/>
          <a:ext cx="37947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37744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drift_types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tool, 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0.88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recommendation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stop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720840" y="4590288"/>
            <a:ext cx="3429000" cy="329184"/>
          </a:xfrm>
          <a:prstGeom prst="roundRect">
            <a:avLst>
              <a:gd name="adj" fmla="val 50000"/>
            </a:avLst>
          </a:prstGeom>
          <a:solidFill>
            <a:srgbClr val="FF5A3D"/>
          </a:solidFill>
          <a:ln w="9525">
            <a:solidFill>
              <a:srgbClr val="FF5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삭제 작업은 중단하고 사용자 확인을 받으세요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4"/>
                </a:solidFill>
                <a:latin typeface="DM Sans"/>
              </a:rPr>
              <a:t>시스템 방식 vs 에이전트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8686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F727A"/>
                </a:solidFill>
                <a:latin typeface="DM Sans"/>
              </a:rPr>
              <a:t>브레이크와 리뷰어/코치 — 서로 다른 목적의 두 레이어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45920"/>
          <a:ext cx="1083564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434840"/>
                <a:gridCol w="4572000"/>
              </a:tblGrid>
              <a:tr h="568234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시스템 방식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에이전트 방식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목적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런타임 보호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리뷰/진단/가이드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위치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Agent Runtime 내부/인접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독립 Agent 또는 sub-agent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실행 시점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실시간/중간 단계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사전·중간 리뷰, 사후 감사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출력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승인/차단/재계획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리포트, 설명, 수정 가이드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장점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자동 보호, 운영 통합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설명 가능성, 점진적 도입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단점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통합 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실시간 차단력 제한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89788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System = Brake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589788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FF5A3D"/>
          </a:solidFill>
          <a:ln w="9525">
            <a:solidFill>
              <a:srgbClr val="FF5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Agent = Reviewer / Coach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4"/>
                </a:solidFill>
                <a:latin typeface="DM Sans"/>
              </a:rPr>
              <a:t>두 방식의 결합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8686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F727A"/>
                </a:solidFill>
                <a:latin typeface="DM Sans"/>
              </a:rPr>
              <a:t>먼저 에이전트 방식으로 기준을 쌓고, 검증된 기준을 시스템 가드레일로 승격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23160"/>
            <a:ext cx="2148840" cy="1600200"/>
          </a:xfrm>
          <a:prstGeom prst="roundRect">
            <a:avLst>
              <a:gd name="adj" fmla="val 12000"/>
            </a:avLst>
          </a:prstGeom>
          <a:solidFill>
            <a:srgbClr val="FF5A3D"/>
          </a:solidFill>
          <a:ln w="10160">
            <a:solidFill>
              <a:srgbClr val="FF5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249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DM Sans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18688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DM Sans"/>
              </a:rPr>
              <a:t>Agent Review CLI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3227832"/>
            <a:ext cx="640080" cy="0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66160" y="2423160"/>
            <a:ext cx="2148840" cy="1600200"/>
          </a:xfrm>
          <a:prstGeom prst="roundRect">
            <a:avLst>
              <a:gd name="adj" fmla="val 12000"/>
            </a:avLst>
          </a:prstGeom>
          <a:solidFill>
            <a:srgbClr val="D92D8A"/>
          </a:solidFill>
          <a:ln w="10160">
            <a:solidFill>
              <a:srgbClr val="D9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27249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DM Sans"/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218688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DM Sans"/>
              </a:rPr>
              <a:t>Sub-agent / CI Review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15000" y="3227832"/>
            <a:ext cx="640079" cy="0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55079" y="2423160"/>
            <a:ext cx="2148840" cy="1600200"/>
          </a:xfrm>
          <a:prstGeom prst="roundRect">
            <a:avLst>
              <a:gd name="adj" fmla="val 12000"/>
            </a:avLst>
          </a:prstGeom>
          <a:solidFill>
            <a:srgbClr val="2563FF"/>
          </a:solidFill>
          <a:ln w="10160">
            <a:solidFill>
              <a:srgbClr val="25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27249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DM Sans"/>
              </a:rP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3218688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DM Sans"/>
              </a:rPr>
              <a:t>Runtime Hook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03919" y="3227832"/>
            <a:ext cx="640081" cy="0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43999" y="2423160"/>
            <a:ext cx="2148840" cy="1600200"/>
          </a:xfrm>
          <a:prstGeom prst="roundRect">
            <a:avLst>
              <a:gd name="adj" fmla="val 12000"/>
            </a:avLst>
          </a:prstGeom>
          <a:solidFill>
            <a:srgbClr val="6D4DFF"/>
          </a:solidFill>
          <a:ln w="10160">
            <a:solidFill>
              <a:srgbClr val="6D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599" y="27249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DM Sans"/>
              </a:rPr>
              <a:t>Phase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599" y="3218688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DM Sans"/>
              </a:rPr>
              <a:t>Dashboard + 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7772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34343A"/>
                </a:solidFill>
                <a:latin typeface="DM Sans"/>
              </a:rPr>
              <a:t>점진적 도입: 개발 리뷰 → 자동 검증 → 런타임 보호 → 운영 지표화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4"/>
                </a:solidFill>
                <a:latin typeface="DM Sans"/>
              </a:rPr>
              <a:t>현재 MVP 구현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8686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F727A"/>
                </a:solidFill>
                <a:latin typeface="DM Sans"/>
              </a:rPr>
              <a:t>CLI, 샘플, 로그, 테스트까지 동작하는 최소 기능 제품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600200"/>
          <a:ext cx="6400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2103120"/>
              </a:tblGrid>
              <a:tr h="43891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상태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Rule-based evaluator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review-agent CLI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Markdown + JSON 출력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JSONL 로그 저장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Tool / Memory / Final 샘플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Handoff / Execution Log 샘플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테스트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13개 통과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LLM Judge 연동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향후 과제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향후 과제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680960" y="1874519"/>
            <a:ext cx="3154680" cy="2468880"/>
          </a:xfrm>
          <a:prstGeom prst="roundRect">
            <a:avLst>
              <a:gd name="adj" fmla="val 12000"/>
            </a:avLst>
          </a:prstGeom>
          <a:solidFill>
            <a:srgbClr val="E9F8EE"/>
          </a:solidFill>
          <a:ln w="10160">
            <a:solidFill>
              <a:srgbClr val="E9F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65008" y="224028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37A3D"/>
                </a:solidFill>
                <a:latin typeface="DM Sans"/>
              </a:rPr>
              <a:t>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5008" y="278892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37A3D"/>
                </a:solidFill>
                <a:latin typeface="DM Sans"/>
              </a:rPr>
              <a:t>PYTHONPATH=src python3 -m unittest discover -s tests -v
Ran 13 tests OK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4"/>
                </a:solidFill>
                <a:latin typeface="DM Sans"/>
              </a:rPr>
              <a:t>Demo 시나리오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8686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F727A"/>
                </a:solidFill>
                <a:latin typeface="DM Sans"/>
              </a:rPr>
              <a:t>세 가지 대표 Drift를 샘플 입력으로 재현하고 평가한다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3063240" cy="2971800"/>
          </a:xfrm>
          <a:prstGeom prst="roundRect">
            <a:avLst>
              <a:gd name="adj" fmla="val 12000"/>
            </a:avLst>
          </a:prstGeom>
          <a:solidFill>
            <a:srgbClr val="F7F7F5"/>
          </a:solidFill>
          <a:ln w="10160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33271" y="230428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5A3D"/>
          </a:solidFill>
          <a:ln w="9525">
            <a:solidFill>
              <a:srgbClr val="FF5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Tool Drift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80360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4"/>
                </a:solidFill>
                <a:latin typeface="DM Sans"/>
              </a:rPr>
              <a:t>삭제하지 말고 요약해줘 → rm -rf docs/old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4160520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5A3D"/>
                </a:solidFill>
                <a:latin typeface="DM Sans"/>
              </a:rPr>
              <a:t>critical · stop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011680"/>
            <a:ext cx="3063240" cy="2971800"/>
          </a:xfrm>
          <a:prstGeom prst="roundRect">
            <a:avLst>
              <a:gd name="adj" fmla="val 12000"/>
            </a:avLst>
          </a:prstGeom>
          <a:solidFill>
            <a:srgbClr val="F7F7F5"/>
          </a:solidFill>
          <a:ln w="10160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36592" y="230428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6D4DFF"/>
          </a:solidFill>
          <a:ln w="9525">
            <a:solidFill>
              <a:srgbClr val="6D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Memory Drift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880360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4"/>
                </a:solidFill>
                <a:latin typeface="DM Sans"/>
              </a:rPr>
              <a:t>오늘은 짧게 → 항상 짧은 답변 선호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4160520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6D4DFF"/>
                </a:solidFill>
                <a:latin typeface="DM Sans"/>
              </a:rPr>
              <a:t>high · skip_memory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2011680"/>
            <a:ext cx="3063240" cy="2971800"/>
          </a:xfrm>
          <a:prstGeom prst="roundRect">
            <a:avLst>
              <a:gd name="adj" fmla="val 12000"/>
            </a:avLst>
          </a:prstGeom>
          <a:solidFill>
            <a:srgbClr val="F7F7F5"/>
          </a:solidFill>
          <a:ln w="10160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39911" y="230428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2563FF"/>
          </a:solidFill>
          <a:ln w="9525">
            <a:solidFill>
              <a:srgbClr val="25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Multi-Agent Drift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880360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4"/>
                </a:solidFill>
                <a:latin typeface="DM Sans"/>
              </a:rPr>
              <a:t>README만 수정 → architecture.md도 정리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4160520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563FF"/>
                </a:solidFill>
                <a:latin typeface="DM Sans"/>
              </a:rPr>
              <a:t>multi_agent · stop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4"/>
                </a:solidFill>
                <a:latin typeface="DM Sans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8686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F727A"/>
                </a:solidFill>
                <a:latin typeface="DM Sans"/>
              </a:rPr>
              <a:t>Agent Review CLI에서 AgentOps 지표 추적까지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00200"/>
            <a:ext cx="411480" cy="329184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36776"/>
            <a:ext cx="5852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4"/>
                </a:solidFill>
                <a:latin typeface="DM Sans"/>
              </a:rPr>
              <a:t>Agent Review CLI 안정화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20140" y="1929384"/>
            <a:ext cx="0" cy="329184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" y="2258568"/>
            <a:ext cx="411480" cy="329184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295144"/>
            <a:ext cx="5852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4"/>
                </a:solidFill>
                <a:latin typeface="DM Sans"/>
              </a:rPr>
              <a:t>JSON Schema 검증과 로그 마스킹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20140" y="2587751"/>
            <a:ext cx="0" cy="329184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" y="2916936"/>
            <a:ext cx="411480" cy="329184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53512"/>
            <a:ext cx="5852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4"/>
                </a:solidFill>
                <a:latin typeface="DM Sans"/>
              </a:rPr>
              <a:t>LLM Judge 연동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20140" y="3246120"/>
            <a:ext cx="0" cy="329184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" y="3575304"/>
            <a:ext cx="411480" cy="329184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611880"/>
            <a:ext cx="5852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11114"/>
                </a:solidFill>
                <a:latin typeface="DM Sans"/>
              </a:rPr>
              <a:t>GitHub PR / CI 리뷰 모드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20140" y="3904488"/>
            <a:ext cx="0" cy="329184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4400" y="4233672"/>
            <a:ext cx="411480" cy="329184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270248"/>
            <a:ext cx="5852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11114"/>
                </a:solidFill>
                <a:latin typeface="DM Sans"/>
              </a:rPr>
              <a:t>OpenClaw sub-agent 실행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20140" y="4562856"/>
            <a:ext cx="0" cy="329184"/>
          </a:xfrm>
          <a:prstGeom prst="line">
            <a:avLst/>
          </a:prstGeom>
          <a:ln w="15240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4400" y="4892040"/>
            <a:ext cx="411480" cy="329184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928616"/>
            <a:ext cx="5852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11114"/>
                </a:solidFill>
                <a:latin typeface="DM Sans"/>
              </a:rPr>
              <a:t>AgentOps 대시보드와 Drift 지표 추적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1965960"/>
            <a:ext cx="2606040" cy="2606040"/>
          </a:xfrm>
          <a:prstGeom prst="roundRect">
            <a:avLst>
              <a:gd name="adj" fmla="val 12000"/>
            </a:avLst>
          </a:prstGeom>
          <a:solidFill>
            <a:srgbClr val="FF5A3D"/>
          </a:solidFill>
          <a:ln w="10160">
            <a:solidFill>
              <a:srgbClr val="FF5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242316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DM Sans"/>
              </a:rPr>
              <a:t>North Star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017520"/>
            <a:ext cx="1783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DM Sans"/>
              </a:rPr>
              <a:t>Drift를 차단하는 것에서 끝나지 않고, 에이전트를 안전한 목표 경로로 되돌린다.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07008"/>
            <a:ext cx="813816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111114"/>
                </a:solidFill>
                <a:latin typeface="DM Sans"/>
              </a:rPr>
              <a:t>DriftGuard의 목표는
에이전트를 멈추게 하는 것이 아니라,
원래 목표와 안전한 경로로 되돌리는 것이다.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977639"/>
            <a:ext cx="2834640" cy="1234440"/>
          </a:xfrm>
          <a:prstGeom prst="roundRect">
            <a:avLst>
              <a:gd name="adj" fmla="val 12000"/>
            </a:avLst>
          </a:prstGeom>
          <a:solidFill>
            <a:srgbClr val="F7F7F5"/>
          </a:solidFill>
          <a:ln w="10160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27939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4"/>
                </a:solidFill>
                <a:latin typeface="DM Sans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68172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런타임 보호에 강함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3977639"/>
            <a:ext cx="2834640" cy="1234440"/>
          </a:xfrm>
          <a:prstGeom prst="roundRect">
            <a:avLst>
              <a:gd name="adj" fmla="val 12000"/>
            </a:avLst>
          </a:prstGeom>
          <a:solidFill>
            <a:srgbClr val="F7F7F5"/>
          </a:solidFill>
          <a:ln w="10160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427939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4"/>
                </a:solidFill>
                <a:latin typeface="DM Sans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468172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설명 가능한 리뷰에 강함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3977639"/>
            <a:ext cx="2834640" cy="1234440"/>
          </a:xfrm>
          <a:prstGeom prst="roundRect">
            <a:avLst>
              <a:gd name="adj" fmla="val 12000"/>
            </a:avLst>
          </a:prstGeom>
          <a:solidFill>
            <a:srgbClr val="0B0B0D"/>
          </a:solidFill>
          <a:ln w="1016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427939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DM Sans"/>
              </a:rPr>
              <a:t>Combined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468172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DM Sans"/>
              </a:rPr>
              <a:t>평가 · 완화 · 감사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